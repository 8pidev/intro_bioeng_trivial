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308" r:id="rId3"/>
    <p:sldId id="1105" r:id="rId4"/>
    <p:sldId id="1103" r:id="rId5"/>
    <p:sldId id="1107" r:id="rId6"/>
    <p:sldId id="1106" r:id="rId7"/>
    <p:sldId id="1108" r:id="rId8"/>
    <p:sldId id="299" r:id="rId9"/>
    <p:sldId id="1109" r:id="rId10"/>
    <p:sldId id="1112" r:id="rId11"/>
    <p:sldId id="1111" r:id="rId12"/>
    <p:sldId id="1090" r:id="rId13"/>
    <p:sldId id="1091" r:id="rId14"/>
    <p:sldId id="1092" r:id="rId15"/>
    <p:sldId id="1096" r:id="rId16"/>
    <p:sldId id="1097" r:id="rId17"/>
    <p:sldId id="1098" r:id="rId18"/>
    <p:sldId id="1099" r:id="rId19"/>
    <p:sldId id="1100" r:id="rId20"/>
    <p:sldId id="1093" r:id="rId21"/>
    <p:sldId id="1114" r:id="rId22"/>
    <p:sldId id="1101" r:id="rId23"/>
    <p:sldId id="1110" r:id="rId24"/>
  </p:sldIdLst>
  <p:sldSz cx="9144000" cy="6858000" type="screen4x3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5A72FCB-C350-B247-8015-BA787D01DF6D}">
          <p14:sldIdLst>
            <p14:sldId id="256"/>
          </p14:sldIdLst>
        </p14:section>
        <p14:section name="Light and lenses" id="{61DABDF4-1121-4558-9399-8CF58FB50CCE}">
          <p14:sldIdLst>
            <p14:sldId id="308"/>
            <p14:sldId id="1105"/>
            <p14:sldId id="1103"/>
            <p14:sldId id="1107"/>
            <p14:sldId id="1106"/>
            <p14:sldId id="1108"/>
            <p14:sldId id="299"/>
            <p14:sldId id="1109"/>
            <p14:sldId id="1112"/>
            <p14:sldId id="1111"/>
            <p14:sldId id="1090"/>
            <p14:sldId id="1091"/>
            <p14:sldId id="1092"/>
            <p14:sldId id="1096"/>
            <p14:sldId id="1097"/>
            <p14:sldId id="1098"/>
            <p14:sldId id="1099"/>
            <p14:sldId id="1100"/>
            <p14:sldId id="1093"/>
            <p14:sldId id="1114"/>
            <p14:sldId id="1101"/>
            <p14:sldId id="11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0"/>
    <p:restoredTop sz="94606"/>
  </p:normalViewPr>
  <p:slideViewPr>
    <p:cSldViewPr snapToGrid="0" snapToObjects="1">
      <p:cViewPr varScale="1">
        <p:scale>
          <a:sx n="119" d="100"/>
          <a:sy n="119" d="100"/>
        </p:scale>
        <p:origin x="9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70872A-216A-45C7-B0DE-DC53771A9960}" type="slidenum">
              <a:rPr lang="el-GR" smtClean="0">
                <a:ea typeface="ＭＳ Ｐゴシック" pitchFamily="34" charset="-128"/>
              </a:rPr>
              <a:pPr/>
              <a:t>8</a:t>
            </a:fld>
            <a:endParaRPr lang="el-GR">
              <a:ea typeface="ＭＳ Ｐゴシック" pitchFamily="34" charset="-128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6110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1854B-BFC7-4B9C-9716-64C0E76FD6F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14ABC2-E4DA-1C44-B461-3371140AE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B79FCA-18D7-3848-BD40-67676F06F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9795CA-C329-6841-959F-1BA12D6D48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47D2A-BF72-464D-A9E7-B45BD8645BD4}" type="datetimeFigureOut">
              <a:t>06/10/2026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4CA94E-EE4A-F247-8C5E-63A07D6125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0EA9AB-9CA2-744A-9C61-2E920AC66A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673D00-F6B2-A243-9DD3-B24D84CBD6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19CED-D47D-9A4D-9DFB-24E8A8C5C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9EC5C9-7DE3-9C4D-B09A-13BA9647E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475261-26D3-2944-9BAE-BAB28844F6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47D2A-BF72-464D-A9E7-B45BD8645BD4}" type="datetimeFigureOut">
              <a:t>06/10/2026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2D6B4F-311E-5A4E-AD91-D9C0E82653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E9C8AE-277D-1341-965C-FAD99FEED4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673D00-F6B2-A243-9DD3-B24D84CBD6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47712-E377-4146-AF42-6779CFB0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5A9148-17F4-8D4A-BC0C-7FD424951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2B8AD1-3D8B-C243-B3C4-DC6DFABC78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47D2A-BF72-464D-A9E7-B45BD8645BD4}" type="datetimeFigureOut">
              <a:t>06/10/2026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4DBD0A-CA05-3145-BEE3-57456B0B20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18D819-0E2A-0B4B-B981-D437CEDF8E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673D00-F6B2-A243-9DD3-B24D84CBD6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4ADC5-A79B-FF4E-AFCC-013B0BC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4812C9-AF2C-1F4B-8B7C-0E7E685BF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9ACC7C-A804-0546-B994-21331EF7FF9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492911-32B1-8542-8EFC-ED4ADF7E97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47D2A-BF72-464D-A9E7-B45BD8645BD4}" type="datetimeFigureOut">
              <a:t>06/10/2026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7049EF-BD77-6745-8B9E-9ADA23A88C1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974634-5DA9-7D4F-BC82-8ED9E1A609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673D00-F6B2-A243-9DD3-B24D84CBD6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3B715-0974-BB48-9965-36C6C057F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C332A8-2163-784B-BBB8-0896270FA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F5C635-B392-3046-9E7C-6237A84AB76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F7E6B6A-9082-3B4A-837A-5EF126664DD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3110F9-9968-5C42-B36A-6DD273024F1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AE32995-6640-994C-A657-53FB6507D6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47D2A-BF72-464D-A9E7-B45BD8645BD4}" type="datetimeFigureOut">
              <a:t>06/10/2026</a:t>
            </a:fld>
            <a:endParaRPr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3B2FD49-93AC-7F40-B044-4F6590CCFB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218276A-EB5D-C049-9E95-E8B1A30E15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673D00-F6B2-A243-9DD3-B24D84CBD6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5657F-5F49-AB4C-BAD1-69BE548331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7"/>
            <a:ext cx="7886700" cy="365125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dirty="0"/>
              <a:t>Haga </a:t>
            </a:r>
            <a:r>
              <a:rPr dirty="0" err="1"/>
              <a:t>clic</a:t>
            </a:r>
            <a:r>
              <a:rPr dirty="0"/>
              <a:t> para </a:t>
            </a:r>
            <a:r>
              <a:rPr dirty="0" err="1"/>
              <a:t>modificar</a:t>
            </a:r>
            <a:r>
              <a:rPr dirty="0"/>
              <a:t> el </a:t>
            </a:r>
            <a:r>
              <a:rPr dirty="0" err="1"/>
              <a:t>estilo</a:t>
            </a:r>
            <a:r>
              <a:rPr dirty="0"/>
              <a:t> de </a:t>
            </a:r>
            <a:r>
              <a:rPr dirty="0" err="1"/>
              <a:t>título</a:t>
            </a:r>
            <a:r>
              <a:rPr dirty="0"/>
              <a:t> del </a:t>
            </a:r>
            <a:r>
              <a:rPr dirty="0" err="1"/>
              <a:t>patrón</a:t>
            </a:r>
            <a:endParaRPr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B9CCF5-13CF-D440-89BE-15D8107C184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47D2A-BF72-464D-A9E7-B45BD8645BD4}" type="datetimeFigureOut">
              <a:t>06/10/2026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8BADA9-875D-E84C-831F-BBEA26BF66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C311EBF-F8F5-1948-B815-E872B0E619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673D00-F6B2-A243-9DD3-B24D84CBD6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BF27C9-3F71-AD42-A95F-0369E110F8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47D2A-BF72-464D-A9E7-B45BD8645BD4}" type="datetimeFigureOut">
              <a:t>06/10/2026</a:t>
            </a:fld>
            <a:endParaRPr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3703313-E570-7344-B27E-871759B240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3F072E-4839-F841-9110-C0522BF4A1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673D00-F6B2-A243-9DD3-B24D84CBD6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50020-0AE7-6F4F-AD7A-365A99783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D87A1F-55FC-CA40-A4F8-FC935082D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F840D19-39F0-1240-A244-434373FD17C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76D504-7AA4-FE4F-AD32-82810C21BA8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47D2A-BF72-464D-A9E7-B45BD8645BD4}" type="datetimeFigureOut">
              <a:t>06/10/2026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F2C80B-2EB4-644A-8E18-9FB61243E7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EE603D-5154-6441-8CF7-AAC06F5BAA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673D00-F6B2-A243-9DD3-B24D84CBD6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FE614-6CA8-0E4C-825F-233B7CE6C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881C48F-D51E-5D4A-A170-15E5070D1B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8C0449-1095-904E-9916-7EA825B2BC2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906D4E-D93A-874F-8C30-74386744B4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47D2A-BF72-464D-A9E7-B45BD8645BD4}" type="datetimeFigureOut">
              <a:t>06/10/2026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3C563D-17FA-074C-9B60-8C7605A062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6058A1-3C98-3648-8D19-2B95FDA039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673D00-F6B2-A243-9DD3-B24D84CBD6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7D91F-2A8E-9F44-B625-DCD343074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2225CF-E5D2-B240-A12D-E77E4E27E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9025BF-CACE-344C-8C0E-4B59BFA693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47D2A-BF72-464D-A9E7-B45BD8645BD4}" type="datetimeFigureOut">
              <a:t>06/10/2026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ABEC6E-F613-8348-A72C-D6CA79C171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7477C0-E5A8-2C40-8622-F33A85CE3C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673D00-F6B2-A243-9DD3-B24D84CBD6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551B55-2372-854C-AB9C-BD077B1E8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24F75E-3D7E-7144-850A-46961D330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458902-E19B-4642-ABCB-D1B4D3CBAA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F47D2A-BF72-464D-A9E7-B45BD8645BD4}" type="datetimeFigureOut">
              <a:t>06/10/2026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20A3D1-C816-C744-9F84-E891CA1D03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A80236-5605-B84C-8C5E-6866EF7C93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673D00-F6B2-A243-9DD3-B24D84CBD6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Nivel de texto 1…">
            <a:extLst>
              <a:ext uri="{FF2B5EF4-FFF2-40B4-BE49-F238E27FC236}">
                <a16:creationId xmlns:a16="http://schemas.microsoft.com/office/drawing/2014/main" id="{7B3DD19C-92BF-4D0C-A955-72B4B9130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727" y="892969"/>
            <a:ext cx="7804547" cy="5072063"/>
          </a:xfrm>
          <a:prstGeom prst="rect">
            <a:avLst/>
          </a:prstGeom>
        </p:spPr>
        <p:txBody>
          <a:bodyPr/>
          <a:lstStyle/>
          <a:p>
            <a:r>
              <a:t>Nivel de texto 1</a:t>
            </a:r>
          </a:p>
          <a:p>
            <a:pPr lvl="1">
              <a:buNone/>
            </a:pPr>
            <a:r>
              <a:t>Nivel de texto 2</a:t>
            </a:r>
          </a:p>
          <a:p>
            <a:pPr lvl="2">
              <a:buNone/>
            </a:pPr>
            <a:r>
              <a:t>Nivel de texto 3</a:t>
            </a:r>
          </a:p>
          <a:p>
            <a:pPr lvl="3">
              <a:buNone/>
            </a:pPr>
            <a:r>
              <a:t>Nivel de texto 4</a:t>
            </a:r>
          </a:p>
          <a:p>
            <a:pPr lvl="4">
              <a:buNone/>
            </a:pPr>
            <a:r>
              <a:t>Nivel de texto 5</a:t>
            </a:r>
          </a:p>
        </p:txBody>
      </p:sp>
      <p:sp>
        <p:nvSpPr>
          <p:cNvPr id="76" name="Número de diapositiva">
            <a:extLst>
              <a:ext uri="{FF2B5EF4-FFF2-40B4-BE49-F238E27FC236}">
                <a16:creationId xmlns:a16="http://schemas.microsoft.com/office/drawing/2014/main" id="{28C6B90B-EE9E-4371-BFC6-E9AEF41E402C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3CA48C2-73A9-1441-874E-479C68F60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27403-DC25-0142-AFFF-86C99BADF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F3FDC-6D1D-3041-B9E1-95576737CAD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47D2A-BF72-464D-A9E7-B45BD8645BD4}" type="datetimeFigureOut">
              <a:t>06/10/2026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03CEA4-F2E4-B547-B062-A0D97023C23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3F1506-C093-DA42-B6D5-80F324EABF8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73D00-F6B2-A243-9DD3-B24D84CBD685}" type="slidenum"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95A48E-D1E6-44F9-D873-9DD9F62A748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" y="0"/>
            <a:ext cx="2686048" cy="299331"/>
          </a:xfrm>
          <a:prstGeom prst="rect">
            <a:avLst/>
          </a:prstGeom>
          <a:solidFill>
            <a:schemeClr val="bg1"/>
          </a:solidFill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IGwChiQJJHk?feature=oembe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UHDfvfYCY0U?feature=oembe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Be51OqnBbdc?start=75&amp;feature=oembe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-4UgK9Ni_34?start=75&amp;feature=oembed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sMjXZpX6hhA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EBD0DB5-EE16-9340-B1A5-58B850EB3DAA}"/>
              </a:ext>
            </a:extLst>
          </p:cNvPr>
          <p:cNvSpPr>
            <a:spLocks noGrp="1"/>
          </p:cNvSpPr>
          <p:nvPr/>
        </p:nvSpPr>
        <p:spPr>
          <a:xfrm>
            <a:off x="255934" y="346029"/>
            <a:ext cx="8632132" cy="5174949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Part 1:</a:t>
            </a:r>
            <a:r>
              <a:rPr sz="18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sz="1800" b="1" dirty="0" err="1">
                <a:solidFill>
                  <a:schemeClr val="bg2">
                    <a:lumMod val="50000"/>
                  </a:schemeClr>
                </a:solidFill>
              </a:rPr>
              <a:t>Optical</a:t>
            </a:r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sz="1800" b="1" dirty="0" err="1">
                <a:solidFill>
                  <a:schemeClr val="bg2">
                    <a:lumMod val="50000"/>
                  </a:schemeClr>
                </a:solidFill>
              </a:rPr>
              <a:t>Imaging</a:t>
            </a:r>
            <a:endParaRPr lang="es-ES" sz="1800" b="1" dirty="0">
              <a:solidFill>
                <a:schemeClr val="bg2">
                  <a:lumMod val="50000"/>
                </a:schemeClr>
              </a:solidFill>
            </a:endParaRPr>
          </a:p>
          <a:p>
            <a:pPr lvl="1"/>
            <a:r>
              <a:rPr lang="es-ES" sz="1800" dirty="0" err="1">
                <a:solidFill>
                  <a:schemeClr val="bg2">
                    <a:lumMod val="50000"/>
                  </a:schemeClr>
                </a:solidFill>
              </a:rPr>
              <a:t>Generation</a:t>
            </a:r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</a:rPr>
              <a:t>of</a:t>
            </a:r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 light</a:t>
            </a:r>
          </a:p>
          <a:p>
            <a:pPr lvl="1"/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Plane wave 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</a:rPr>
              <a:t>propagation</a:t>
            </a:r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</a:rPr>
              <a:t>geometrical</a:t>
            </a:r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</a:rPr>
              <a:t>optics</a:t>
            </a:r>
            <a:endParaRPr lang="es-ES" sz="1800" dirty="0">
              <a:solidFill>
                <a:schemeClr val="bg2">
                  <a:lumMod val="50000"/>
                </a:schemeClr>
              </a:solidFill>
            </a:endParaRPr>
          </a:p>
          <a:p>
            <a:pPr lvl="1"/>
            <a:r>
              <a:rPr lang="en-GB" sz="1800" dirty="0">
                <a:solidFill>
                  <a:schemeClr val="bg2">
                    <a:lumMod val="50000"/>
                  </a:schemeClr>
                </a:solidFill>
              </a:rPr>
              <a:t>Optical Imaging modalities</a:t>
            </a:r>
          </a:p>
          <a:p>
            <a:pPr lvl="2"/>
            <a:r>
              <a:rPr lang="en-GB" sz="1400" dirty="0">
                <a:solidFill>
                  <a:schemeClr val="bg2">
                    <a:lumMod val="50000"/>
                  </a:schemeClr>
                </a:solidFill>
              </a:rPr>
              <a:t>Low scattering (microscopy, OPT, SPIM)</a:t>
            </a:r>
          </a:p>
          <a:p>
            <a:pPr lvl="2"/>
            <a:r>
              <a:rPr lang="en-GB" sz="1400" dirty="0">
                <a:solidFill>
                  <a:schemeClr val="bg2">
                    <a:lumMod val="50000"/>
                  </a:schemeClr>
                </a:solidFill>
              </a:rPr>
              <a:t>High scattering (DOT,FMT)</a:t>
            </a:r>
          </a:p>
          <a:p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Part 2: </a:t>
            </a:r>
            <a:r>
              <a:rPr lang="es-ES" sz="1800" b="1" dirty="0" err="1">
                <a:solidFill>
                  <a:schemeClr val="bg2">
                    <a:lumMod val="50000"/>
                  </a:schemeClr>
                </a:solidFill>
              </a:rPr>
              <a:t>Innovation</a:t>
            </a:r>
            <a:endParaRPr lang="es-ES" sz="1800" b="1" dirty="0">
              <a:solidFill>
                <a:schemeClr val="bg2">
                  <a:lumMod val="50000"/>
                </a:schemeClr>
              </a:solidFill>
            </a:endParaRPr>
          </a:p>
          <a:p>
            <a:pPr lvl="1"/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6 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</a:rPr>
              <a:t>teams</a:t>
            </a:r>
            <a:endParaRPr lang="es-ES" sz="1800" dirty="0">
              <a:solidFill>
                <a:schemeClr val="bg2">
                  <a:lumMod val="50000"/>
                </a:schemeClr>
              </a:solidFill>
            </a:endParaRPr>
          </a:p>
          <a:p>
            <a:pPr lvl="1"/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Work 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</a:rPr>
              <a:t>on</a:t>
            </a:r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</a:rPr>
              <a:t>Canvas</a:t>
            </a:r>
            <a:endParaRPr lang="es-ES" sz="1800" dirty="0">
              <a:solidFill>
                <a:schemeClr val="bg2">
                  <a:lumMod val="50000"/>
                </a:schemeClr>
              </a:solidFill>
            </a:endParaRPr>
          </a:p>
          <a:p>
            <a:pPr lvl="1"/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Work 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</a:rPr>
              <a:t>on</a:t>
            </a:r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 SWOT 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</a:rPr>
              <a:t>matrix</a:t>
            </a:r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 (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</a:rPr>
              <a:t>Strengths</a:t>
            </a:r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</a:rPr>
              <a:t>Weaknesses</a:t>
            </a:r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s-ES" sz="1800" dirty="0" err="1">
                <a:solidFill>
                  <a:schemeClr val="bg2">
                    <a:lumMod val="50000"/>
                  </a:schemeClr>
                </a:solidFill>
              </a:rPr>
              <a:t>Opportunities</a:t>
            </a:r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, Threats)</a:t>
            </a:r>
          </a:p>
          <a:p>
            <a:pPr lvl="1"/>
            <a:r>
              <a:rPr lang="es-ES" sz="1800" dirty="0" err="1">
                <a:solidFill>
                  <a:schemeClr val="bg2">
                    <a:lumMod val="50000"/>
                  </a:schemeClr>
                </a:solidFill>
              </a:rPr>
              <a:t>Elevator</a:t>
            </a:r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 Pitch</a:t>
            </a:r>
          </a:p>
          <a:p>
            <a:r>
              <a:rPr lang="es-ES" sz="1800" b="1" dirty="0"/>
              <a:t>Part 3: </a:t>
            </a:r>
            <a:r>
              <a:rPr lang="es-ES" sz="1800" b="1" dirty="0" err="1"/>
              <a:t>Neuroimaging</a:t>
            </a:r>
            <a:endParaRPr lang="es-ES" sz="1800" b="1" dirty="0"/>
          </a:p>
          <a:p>
            <a:pPr lvl="1"/>
            <a:r>
              <a:rPr lang="es-ES" sz="1400" b="1" dirty="0" err="1"/>
              <a:t>Functional</a:t>
            </a:r>
            <a:r>
              <a:rPr lang="es-ES" sz="1400" b="1" dirty="0"/>
              <a:t> MRI</a:t>
            </a:r>
          </a:p>
          <a:p>
            <a:pPr lvl="1"/>
            <a:r>
              <a:rPr lang="es-ES" sz="1400" b="1" dirty="0" err="1"/>
              <a:t>Functional</a:t>
            </a:r>
            <a:r>
              <a:rPr lang="es-ES" sz="1400" b="1" dirty="0"/>
              <a:t> </a:t>
            </a:r>
            <a:r>
              <a:rPr lang="es-ES" sz="1400" b="1" dirty="0" err="1"/>
              <a:t>Diffuse</a:t>
            </a:r>
            <a:r>
              <a:rPr lang="es-ES" sz="1400" b="1" dirty="0"/>
              <a:t> </a:t>
            </a:r>
            <a:r>
              <a:rPr lang="es-ES" sz="1400" b="1" dirty="0" err="1"/>
              <a:t>Optical</a:t>
            </a:r>
            <a:r>
              <a:rPr lang="es-ES" sz="1400" b="1" dirty="0"/>
              <a:t> </a:t>
            </a:r>
            <a:r>
              <a:rPr lang="es-ES" sz="1400" b="1" dirty="0" err="1"/>
              <a:t>Tomography</a:t>
            </a:r>
            <a:endParaRPr lang="es-ES" sz="1400" b="1" dirty="0"/>
          </a:p>
          <a:p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Part 4: </a:t>
            </a:r>
            <a:r>
              <a:rPr lang="es-ES" sz="1800" b="1" dirty="0" err="1">
                <a:solidFill>
                  <a:schemeClr val="bg2">
                    <a:lumMod val="50000"/>
                  </a:schemeClr>
                </a:solidFill>
              </a:rPr>
              <a:t>Biomedical</a:t>
            </a:r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sz="1800" b="1" dirty="0" err="1">
                <a:solidFill>
                  <a:schemeClr val="bg2">
                    <a:lumMod val="50000"/>
                  </a:schemeClr>
                </a:solidFill>
              </a:rPr>
              <a:t>analysis</a:t>
            </a:r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sz="1800" b="1" dirty="0" err="1">
                <a:solidFill>
                  <a:schemeClr val="bg2">
                    <a:lumMod val="50000"/>
                  </a:schemeClr>
                </a:solidFill>
              </a:rPr>
              <a:t>technologies</a:t>
            </a:r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Elisa</a:t>
            </a:r>
          </a:p>
          <a:p>
            <a:pPr lvl="1"/>
            <a:r>
              <a:rPr lang="es-ES" sz="1800" dirty="0">
                <a:solidFill>
                  <a:schemeClr val="bg2">
                    <a:lumMod val="50000"/>
                  </a:schemeClr>
                </a:solidFill>
              </a:rPr>
              <a:t>FACS</a:t>
            </a:r>
          </a:p>
          <a:p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Part 5: </a:t>
            </a:r>
            <a:r>
              <a:rPr lang="es-ES" sz="1800" b="1" dirty="0" err="1">
                <a:solidFill>
                  <a:schemeClr val="bg2">
                    <a:lumMod val="50000"/>
                  </a:schemeClr>
                </a:solidFill>
              </a:rPr>
              <a:t>Biomedical</a:t>
            </a:r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 Optics</a:t>
            </a:r>
          </a:p>
          <a:p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Part 6: </a:t>
            </a:r>
            <a:r>
              <a:rPr lang="es-ES" sz="1800" b="1" dirty="0" err="1">
                <a:solidFill>
                  <a:schemeClr val="bg2">
                    <a:lumMod val="50000"/>
                  </a:schemeClr>
                </a:solidFill>
              </a:rPr>
              <a:t>Imaging</a:t>
            </a:r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 Trivial</a:t>
            </a:r>
          </a:p>
          <a:p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Part 7: </a:t>
            </a:r>
            <a:r>
              <a:rPr lang="es-ES" sz="1800" b="1" dirty="0" err="1">
                <a:solidFill>
                  <a:schemeClr val="bg2">
                    <a:lumMod val="50000"/>
                  </a:schemeClr>
                </a:solidFill>
              </a:rPr>
              <a:t>Presentation</a:t>
            </a:r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sz="1800" b="1" dirty="0" err="1">
                <a:solidFill>
                  <a:schemeClr val="bg2">
                    <a:lumMod val="50000"/>
                  </a:schemeClr>
                </a:solidFill>
              </a:rPr>
              <a:t>of</a:t>
            </a:r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sz="1800" b="1" dirty="0" err="1">
                <a:solidFill>
                  <a:schemeClr val="bg2">
                    <a:lumMod val="50000"/>
                  </a:schemeClr>
                </a:solidFill>
              </a:rPr>
              <a:t>Innovation</a:t>
            </a:r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ES" sz="1800" b="1" dirty="0" err="1">
                <a:solidFill>
                  <a:schemeClr val="bg2">
                    <a:lumMod val="50000"/>
                  </a:schemeClr>
                </a:solidFill>
              </a:rPr>
              <a:t>Teams</a:t>
            </a:r>
            <a:r>
              <a:rPr lang="es-ES" sz="18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 lvl="1"/>
            <a:endParaRPr lang="es-E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4D00A-0F0E-54F2-FF2C-B6D1DB769AC6}"/>
              </a:ext>
            </a:extLst>
          </p:cNvPr>
          <p:cNvSpPr txBox="1"/>
          <p:nvPr/>
        </p:nvSpPr>
        <p:spPr>
          <a:xfrm>
            <a:off x="6677461" y="346029"/>
            <a:ext cx="2210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Jorge.ripoll@uc3m.es</a:t>
            </a:r>
          </a:p>
        </p:txBody>
      </p:sp>
    </p:spTree>
    <p:extLst>
      <p:ext uri="{BB962C8B-B14F-4D97-AF65-F5344CB8AC3E}">
        <p14:creationId xmlns:p14="http://schemas.microsoft.com/office/powerpoint/2010/main" val="1607278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noProof="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Neuroimaging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Functional MRI, DTI, MEG, EEG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descr="fMRI Explained (Functional Magnetic Resonance Imaging)">
            <a:hlinkClick r:id="" action="ppaction://media"/>
            <a:extLst>
              <a:ext uri="{FF2B5EF4-FFF2-40B4-BE49-F238E27FC236}">
                <a16:creationId xmlns:a16="http://schemas.microsoft.com/office/drawing/2014/main" id="{34D540C1-7FDB-E0A2-695F-18F8B57173E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578539"/>
            <a:ext cx="9143443" cy="516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0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descr="The ultimate brain map">
            <a:hlinkClick r:id="" action="ppaction://media"/>
            <a:extLst>
              <a:ext uri="{FF2B5EF4-FFF2-40B4-BE49-F238E27FC236}">
                <a16:creationId xmlns:a16="http://schemas.microsoft.com/office/drawing/2014/main" id="{7CF6AFC1-08CB-5A21-EF9D-51A45AFA89F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71526" y="699769"/>
            <a:ext cx="8814636" cy="498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04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descr="Diffusion Tensor Imaging (DTI) Explained! | Neuroscience Methods 101">
            <a:hlinkClick r:id="" action="ppaction://media"/>
            <a:extLst>
              <a:ext uri="{FF2B5EF4-FFF2-40B4-BE49-F238E27FC236}">
                <a16:creationId xmlns:a16="http://schemas.microsoft.com/office/drawing/2014/main" id="{F979C52B-EE04-466B-F249-49BB8DC0C17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968712"/>
            <a:ext cx="9138313" cy="516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91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descr="Inside Cambridge University's Brain Research Unit">
            <a:hlinkClick r:id="" action="ppaction://media"/>
            <a:extLst>
              <a:ext uri="{FF2B5EF4-FFF2-40B4-BE49-F238E27FC236}">
                <a16:creationId xmlns:a16="http://schemas.microsoft.com/office/drawing/2014/main" id="{312F446E-6E58-111B-43BA-9DFE7D78476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1312956"/>
            <a:ext cx="9144000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86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D347-B7CD-B96A-A01F-895AB8201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Optical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16AEE-09AE-9979-E1F8-E357DB2F7A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Functional Diffuse Optical Tomography (</a:t>
            </a:r>
            <a:r>
              <a:rPr lang="en-US" dirty="0" err="1"/>
              <a:t>fDOT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85499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809625"/>
            <a:ext cx="7019925" cy="604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ＭＳ Ｐゴシック" pitchFamily="34" charset="-128"/>
              </a:rPr>
              <a:t>Blood Absorption</a:t>
            </a:r>
            <a:endParaRPr lang="el-GR">
              <a:ea typeface="ＭＳ Ｐゴシック" pitchFamily="34" charset="-128"/>
            </a:endParaRPr>
          </a:p>
        </p:txBody>
      </p:sp>
      <p:pic>
        <p:nvPicPr>
          <p:cNvPr id="72708" name="Picture 4"/>
          <p:cNvPicPr>
            <a:picLocks noChangeAspect="1" noChangeArrowheads="1"/>
          </p:cNvPicPr>
          <p:nvPr/>
        </p:nvPicPr>
        <p:blipFill>
          <a:blip r:embed="rId4" cstate="print"/>
          <a:srcRect l="8768" t="41008" r="2744" b="46858"/>
          <a:stretch>
            <a:fillRect/>
          </a:stretch>
        </p:blipFill>
        <p:spPr bwMode="auto">
          <a:xfrm>
            <a:off x="1042988" y="5516563"/>
            <a:ext cx="4176712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2758" name="Picture 19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92488" y="7938"/>
            <a:ext cx="5716587" cy="320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2759" name="Picture 19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03750" y="3284538"/>
            <a:ext cx="4165600" cy="115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6975C1-30B8-23ED-502D-90602D059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9144000" cy="6096000"/>
          </a:xfrm>
          <a:prstGeom prst="rect">
            <a:avLst/>
          </a:prstGeom>
        </p:spPr>
      </p:pic>
      <p:pic>
        <p:nvPicPr>
          <p:cNvPr id="4" name="Picture 3" descr="OXY 500 BT - Bluetooth® Pulse Oximeter - Microlife AG">
            <a:extLst>
              <a:ext uri="{FF2B5EF4-FFF2-40B4-BE49-F238E27FC236}">
                <a16:creationId xmlns:a16="http://schemas.microsoft.com/office/drawing/2014/main" id="{39D01A3C-C471-6DC4-568B-8FE71943A4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41" t="10000" r="11035" b="20541"/>
          <a:stretch>
            <a:fillRect/>
          </a:stretch>
        </p:blipFill>
        <p:spPr>
          <a:xfrm>
            <a:off x="7605656" y="1"/>
            <a:ext cx="1538344" cy="134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91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AEDF41-A18E-8D79-9A61-E82B38123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6847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65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708E0A-2371-C266-DE7F-832A449C0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552" y="1120064"/>
            <a:ext cx="4279004" cy="3930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59FC89-AC1B-EE10-3322-CE8715DD8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435" y="3230206"/>
            <a:ext cx="5597000" cy="1944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DD79A9-34AB-552F-FAE4-EC5BCE01EF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80" y="1120064"/>
            <a:ext cx="8283387" cy="558228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A6AC485B-8795-CC38-475B-F95C2C8D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Diffuse Optical Tomography</a:t>
            </a:r>
          </a:p>
        </p:txBody>
      </p:sp>
    </p:spTree>
    <p:extLst>
      <p:ext uri="{BB962C8B-B14F-4D97-AF65-F5344CB8AC3E}">
        <p14:creationId xmlns:p14="http://schemas.microsoft.com/office/powerpoint/2010/main" val="1335345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Non-Contact FMT</a:t>
            </a:r>
          </a:p>
        </p:txBody>
      </p:sp>
      <p:pic>
        <p:nvPicPr>
          <p:cNvPr id="4" name="experiment_mous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21536" y="1350264"/>
            <a:ext cx="6096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70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Wavelength Selection</a:t>
            </a:r>
          </a:p>
        </p:txBody>
      </p:sp>
      <p:pic>
        <p:nvPicPr>
          <p:cNvPr id="2" name="filters_mouse">
            <a:hlinkClick r:id="" action="ppaction://media"/>
            <a:extLst>
              <a:ext uri="{FF2B5EF4-FFF2-40B4-BE49-F238E27FC236}">
                <a16:creationId xmlns:a16="http://schemas.microsoft.com/office/drawing/2014/main" id="{3938FCA0-0F4A-4BC8-AA85-E04E02FB3F1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4825" y="1143000"/>
            <a:ext cx="8134350" cy="4572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DOT Principles</a:t>
            </a:r>
          </a:p>
        </p:txBody>
      </p:sp>
      <p:pic>
        <p:nvPicPr>
          <p:cNvPr id="526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1013270"/>
            <a:ext cx="9107159" cy="4046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365760" y="5279136"/>
            <a:ext cx="8461248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u="sng" noProof="0" dirty="0"/>
              <a:t>Inverse Problem: </a:t>
            </a:r>
            <a:r>
              <a:rPr lang="en-US" noProof="0" dirty="0"/>
              <a:t>Using the measurements  as a starting point, what distribution of absorbers (mainly blood) caused them?</a:t>
            </a:r>
          </a:p>
          <a:p>
            <a:endParaRPr lang="en-US" noProof="0" dirty="0"/>
          </a:p>
        </p:txBody>
      </p:sp>
      <p:grpSp>
        <p:nvGrpSpPr>
          <p:cNvPr id="3" name="Group 6"/>
          <p:cNvGrpSpPr/>
          <p:nvPr/>
        </p:nvGrpSpPr>
        <p:grpSpPr>
          <a:xfrm>
            <a:off x="1924490" y="4603899"/>
            <a:ext cx="5305649" cy="446567"/>
            <a:chOff x="2094611" y="6262578"/>
            <a:chExt cx="5305649" cy="446567"/>
          </a:xfrm>
        </p:grpSpPr>
        <p:sp>
          <p:nvSpPr>
            <p:cNvPr id="5" name="Right Arrow 4"/>
            <p:cNvSpPr/>
            <p:nvPr/>
          </p:nvSpPr>
          <p:spPr>
            <a:xfrm>
              <a:off x="2094611" y="6262578"/>
              <a:ext cx="531628" cy="446567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26242" y="6294474"/>
              <a:ext cx="4774018" cy="414670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/>
                <a:t>DOT recovers Hb and </a:t>
              </a:r>
              <a:r>
                <a:rPr lang="en-US" noProof="0" dirty="0" err="1"/>
                <a:t>HbO</a:t>
              </a:r>
              <a:r>
                <a:rPr lang="en-US" noProof="0" dirty="0"/>
                <a:t> Concentration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DOT vs Single Image</a:t>
            </a:r>
          </a:p>
        </p:txBody>
      </p:sp>
      <p:sp>
        <p:nvSpPr>
          <p:cNvPr id="139267" name="Rectangle 4"/>
          <p:cNvSpPr>
            <a:spLocks noChangeArrowheads="1"/>
          </p:cNvSpPr>
          <p:nvPr/>
        </p:nvSpPr>
        <p:spPr bwMode="auto">
          <a:xfrm>
            <a:off x="2143125" y="3570288"/>
            <a:ext cx="4822825" cy="1928812"/>
          </a:xfrm>
          <a:prstGeom prst="rect">
            <a:avLst/>
          </a:prstGeom>
          <a:solidFill>
            <a:srgbClr val="A485B1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noProof="0" dirty="0"/>
          </a:p>
        </p:txBody>
      </p:sp>
      <p:sp>
        <p:nvSpPr>
          <p:cNvPr id="139268" name="Oval 5"/>
          <p:cNvSpPr>
            <a:spLocks noChangeArrowheads="1"/>
          </p:cNvSpPr>
          <p:nvPr/>
        </p:nvSpPr>
        <p:spPr bwMode="auto">
          <a:xfrm>
            <a:off x="3944938" y="3859213"/>
            <a:ext cx="990600" cy="9271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139269" name="Text Box 7"/>
          <p:cNvSpPr txBox="1">
            <a:spLocks noChangeArrowheads="1"/>
          </p:cNvSpPr>
          <p:nvPr/>
        </p:nvSpPr>
        <p:spPr bwMode="auto">
          <a:xfrm>
            <a:off x="2339975" y="4924425"/>
            <a:ext cx="701675" cy="36671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noProof="0" dirty="0"/>
              <a:t>Tissue</a:t>
            </a:r>
          </a:p>
        </p:txBody>
      </p:sp>
      <p:sp>
        <p:nvSpPr>
          <p:cNvPr id="139270" name="Freeform 8"/>
          <p:cNvSpPr>
            <a:spLocks/>
          </p:cNvSpPr>
          <p:nvPr/>
        </p:nvSpPr>
        <p:spPr bwMode="auto">
          <a:xfrm>
            <a:off x="2392363" y="2592388"/>
            <a:ext cx="4033837" cy="852487"/>
          </a:xfrm>
          <a:custGeom>
            <a:avLst/>
            <a:gdLst>
              <a:gd name="T0" fmla="*/ 0 w 2541"/>
              <a:gd name="T1" fmla="*/ 852487 h 1066"/>
              <a:gd name="T2" fmla="*/ 2054225 w 2541"/>
              <a:gd name="T3" fmla="*/ 800 h 1066"/>
              <a:gd name="T4" fmla="*/ 4033837 w 2541"/>
              <a:gd name="T5" fmla="*/ 839692 h 1066"/>
              <a:gd name="T6" fmla="*/ 0 60000 65536"/>
              <a:gd name="T7" fmla="*/ 0 60000 65536"/>
              <a:gd name="T8" fmla="*/ 0 60000 65536"/>
              <a:gd name="T9" fmla="*/ 0 w 2541"/>
              <a:gd name="T10" fmla="*/ 0 h 1066"/>
              <a:gd name="T11" fmla="*/ 2541 w 2541"/>
              <a:gd name="T12" fmla="*/ 1066 h 10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41" h="1066">
                <a:moveTo>
                  <a:pt x="0" y="1066"/>
                </a:moveTo>
                <a:cubicBezTo>
                  <a:pt x="671" y="1043"/>
                  <a:pt x="897" y="2"/>
                  <a:pt x="1294" y="1"/>
                </a:cubicBezTo>
                <a:cubicBezTo>
                  <a:pt x="1691" y="0"/>
                  <a:pt x="2075" y="1035"/>
                  <a:pt x="2541" y="105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139271" name="Text Box 9"/>
          <p:cNvSpPr txBox="1">
            <a:spLocks noChangeArrowheads="1"/>
          </p:cNvSpPr>
          <p:nvPr/>
        </p:nvSpPr>
        <p:spPr bwMode="auto">
          <a:xfrm>
            <a:off x="484188" y="1579563"/>
            <a:ext cx="1370568" cy="36933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noProof="0" dirty="0">
                <a:latin typeface="+mn-lt"/>
              </a:rPr>
              <a:t>Single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2E3484-B3B0-279C-FE00-1E4972D0FF03}"/>
              </a:ext>
            </a:extLst>
          </p:cNvPr>
          <p:cNvSpPr txBox="1"/>
          <p:nvPr/>
        </p:nvSpPr>
        <p:spPr>
          <a:xfrm>
            <a:off x="4935538" y="4322763"/>
            <a:ext cx="1637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Absorber (vessel)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Principles of Tomography</a:t>
            </a:r>
          </a:p>
        </p:txBody>
      </p:sp>
      <p:sp>
        <p:nvSpPr>
          <p:cNvPr id="140291" name="Rectangle 3"/>
          <p:cNvSpPr>
            <a:spLocks noChangeArrowheads="1"/>
          </p:cNvSpPr>
          <p:nvPr/>
        </p:nvSpPr>
        <p:spPr bwMode="auto">
          <a:xfrm>
            <a:off x="2143125" y="3570288"/>
            <a:ext cx="4822825" cy="1928812"/>
          </a:xfrm>
          <a:prstGeom prst="rect">
            <a:avLst/>
          </a:prstGeom>
          <a:solidFill>
            <a:srgbClr val="A485B1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noProof="0" dirty="0"/>
          </a:p>
        </p:txBody>
      </p:sp>
      <p:sp>
        <p:nvSpPr>
          <p:cNvPr id="140292" name="Oval 4"/>
          <p:cNvSpPr>
            <a:spLocks noChangeArrowheads="1"/>
          </p:cNvSpPr>
          <p:nvPr/>
        </p:nvSpPr>
        <p:spPr bwMode="auto">
          <a:xfrm>
            <a:off x="3944938" y="3859213"/>
            <a:ext cx="990600" cy="927100"/>
          </a:xfrm>
          <a:prstGeom prst="ellipse">
            <a:avLst/>
          </a:prstGeom>
          <a:solidFill>
            <a:srgbClr val="FF0000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140293" name="Text Box 5"/>
          <p:cNvSpPr txBox="1">
            <a:spLocks noChangeArrowheads="1"/>
          </p:cNvSpPr>
          <p:nvPr/>
        </p:nvSpPr>
        <p:spPr bwMode="auto">
          <a:xfrm>
            <a:off x="2339975" y="4924425"/>
            <a:ext cx="701675" cy="36671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noProof="0" dirty="0"/>
              <a:t>Tissue</a:t>
            </a:r>
          </a:p>
        </p:txBody>
      </p:sp>
      <p:sp>
        <p:nvSpPr>
          <p:cNvPr id="140294" name="Text Box 7"/>
          <p:cNvSpPr txBox="1">
            <a:spLocks noChangeArrowheads="1"/>
          </p:cNvSpPr>
          <p:nvPr/>
        </p:nvSpPr>
        <p:spPr bwMode="auto">
          <a:xfrm>
            <a:off x="484188" y="1579563"/>
            <a:ext cx="2772426" cy="36933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noProof="0" dirty="0"/>
              <a:t>Diffuse Optical Tomography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392363" y="3255963"/>
            <a:ext cx="4033837" cy="3357562"/>
            <a:chOff x="1507" y="2051"/>
            <a:chExt cx="2541" cy="2115"/>
          </a:xfrm>
        </p:grpSpPr>
        <p:sp>
          <p:nvSpPr>
            <p:cNvPr id="140309" name="Freeform 6"/>
            <p:cNvSpPr>
              <a:spLocks/>
            </p:cNvSpPr>
            <p:nvPr/>
          </p:nvSpPr>
          <p:spPr bwMode="auto">
            <a:xfrm>
              <a:off x="1507" y="2051"/>
              <a:ext cx="2541" cy="119"/>
            </a:xfrm>
            <a:custGeom>
              <a:avLst/>
              <a:gdLst>
                <a:gd name="T0" fmla="*/ 0 w 2541"/>
                <a:gd name="T1" fmla="*/ 119 h 1066"/>
                <a:gd name="T2" fmla="*/ 1294 w 2541"/>
                <a:gd name="T3" fmla="*/ 0 h 1066"/>
                <a:gd name="T4" fmla="*/ 2541 w 2541"/>
                <a:gd name="T5" fmla="*/ 117 h 1066"/>
                <a:gd name="T6" fmla="*/ 0 60000 65536"/>
                <a:gd name="T7" fmla="*/ 0 60000 65536"/>
                <a:gd name="T8" fmla="*/ 0 60000 65536"/>
                <a:gd name="T9" fmla="*/ 0 w 2541"/>
                <a:gd name="T10" fmla="*/ 0 h 1066"/>
                <a:gd name="T11" fmla="*/ 2541 w 2541"/>
                <a:gd name="T12" fmla="*/ 1066 h 10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41" h="1066">
                  <a:moveTo>
                    <a:pt x="0" y="1066"/>
                  </a:moveTo>
                  <a:cubicBezTo>
                    <a:pt x="671" y="1043"/>
                    <a:pt x="897" y="2"/>
                    <a:pt x="1294" y="1"/>
                  </a:cubicBezTo>
                  <a:cubicBezTo>
                    <a:pt x="1691" y="0"/>
                    <a:pt x="2075" y="1035"/>
                    <a:pt x="2541" y="105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140310" name="AutoShape 8"/>
            <p:cNvSpPr>
              <a:spLocks noChangeArrowheads="1"/>
            </p:cNvSpPr>
            <p:nvPr/>
          </p:nvSpPr>
          <p:spPr bwMode="auto">
            <a:xfrm>
              <a:off x="1586" y="3527"/>
              <a:ext cx="363" cy="639"/>
            </a:xfrm>
            <a:prstGeom prst="upArrow">
              <a:avLst>
                <a:gd name="adj1" fmla="val 50000"/>
                <a:gd name="adj2" fmla="val 44008"/>
              </a:avLst>
            </a:prstGeom>
            <a:solidFill>
              <a:schemeClr val="accent1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0" dirty="0"/>
            </a:p>
          </p:txBody>
        </p:sp>
      </p:grpSp>
      <p:sp>
        <p:nvSpPr>
          <p:cNvPr id="140296" name="Text Box 9"/>
          <p:cNvSpPr txBox="1">
            <a:spLocks noChangeArrowheads="1"/>
          </p:cNvSpPr>
          <p:nvPr/>
        </p:nvSpPr>
        <p:spPr bwMode="auto">
          <a:xfrm>
            <a:off x="1198563" y="6251575"/>
            <a:ext cx="752475" cy="36671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noProof="0" dirty="0"/>
              <a:t>source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2392363" y="3005138"/>
            <a:ext cx="4033837" cy="3608387"/>
            <a:chOff x="1507" y="1893"/>
            <a:chExt cx="2541" cy="2273"/>
          </a:xfrm>
        </p:grpSpPr>
        <p:sp>
          <p:nvSpPr>
            <p:cNvPr id="140307" name="Freeform 11"/>
            <p:cNvSpPr>
              <a:spLocks/>
            </p:cNvSpPr>
            <p:nvPr/>
          </p:nvSpPr>
          <p:spPr bwMode="auto">
            <a:xfrm>
              <a:off x="1507" y="1893"/>
              <a:ext cx="2541" cy="277"/>
            </a:xfrm>
            <a:custGeom>
              <a:avLst/>
              <a:gdLst>
                <a:gd name="T0" fmla="*/ 0 w 2541"/>
                <a:gd name="T1" fmla="*/ 277 h 1066"/>
                <a:gd name="T2" fmla="*/ 1294 w 2541"/>
                <a:gd name="T3" fmla="*/ 0 h 1066"/>
                <a:gd name="T4" fmla="*/ 2541 w 2541"/>
                <a:gd name="T5" fmla="*/ 273 h 1066"/>
                <a:gd name="T6" fmla="*/ 0 60000 65536"/>
                <a:gd name="T7" fmla="*/ 0 60000 65536"/>
                <a:gd name="T8" fmla="*/ 0 60000 65536"/>
                <a:gd name="T9" fmla="*/ 0 w 2541"/>
                <a:gd name="T10" fmla="*/ 0 h 1066"/>
                <a:gd name="T11" fmla="*/ 2541 w 2541"/>
                <a:gd name="T12" fmla="*/ 1066 h 10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41" h="1066">
                  <a:moveTo>
                    <a:pt x="0" y="1066"/>
                  </a:moveTo>
                  <a:cubicBezTo>
                    <a:pt x="671" y="1043"/>
                    <a:pt x="897" y="2"/>
                    <a:pt x="1294" y="1"/>
                  </a:cubicBezTo>
                  <a:cubicBezTo>
                    <a:pt x="1691" y="0"/>
                    <a:pt x="2075" y="1035"/>
                    <a:pt x="2541" y="105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140308" name="AutoShape 12"/>
            <p:cNvSpPr>
              <a:spLocks noChangeArrowheads="1"/>
            </p:cNvSpPr>
            <p:nvPr/>
          </p:nvSpPr>
          <p:spPr bwMode="auto">
            <a:xfrm>
              <a:off x="2034" y="3527"/>
              <a:ext cx="363" cy="639"/>
            </a:xfrm>
            <a:prstGeom prst="upArrow">
              <a:avLst>
                <a:gd name="adj1" fmla="val 50000"/>
                <a:gd name="adj2" fmla="val 44008"/>
              </a:avLst>
            </a:prstGeom>
            <a:solidFill>
              <a:schemeClr val="accent1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0" dirty="0"/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2392363" y="2354263"/>
            <a:ext cx="4033837" cy="4259262"/>
            <a:chOff x="1507" y="1483"/>
            <a:chExt cx="2541" cy="2683"/>
          </a:xfrm>
        </p:grpSpPr>
        <p:sp>
          <p:nvSpPr>
            <p:cNvPr id="140305" name="Freeform 14"/>
            <p:cNvSpPr>
              <a:spLocks/>
            </p:cNvSpPr>
            <p:nvPr/>
          </p:nvSpPr>
          <p:spPr bwMode="auto">
            <a:xfrm>
              <a:off x="1507" y="1483"/>
              <a:ext cx="2541" cy="687"/>
            </a:xfrm>
            <a:custGeom>
              <a:avLst/>
              <a:gdLst>
                <a:gd name="T0" fmla="*/ 0 w 2541"/>
                <a:gd name="T1" fmla="*/ 687 h 1066"/>
                <a:gd name="T2" fmla="*/ 1294 w 2541"/>
                <a:gd name="T3" fmla="*/ 1 h 1066"/>
                <a:gd name="T4" fmla="*/ 2541 w 2541"/>
                <a:gd name="T5" fmla="*/ 677 h 1066"/>
                <a:gd name="T6" fmla="*/ 0 60000 65536"/>
                <a:gd name="T7" fmla="*/ 0 60000 65536"/>
                <a:gd name="T8" fmla="*/ 0 60000 65536"/>
                <a:gd name="T9" fmla="*/ 0 w 2541"/>
                <a:gd name="T10" fmla="*/ 0 h 1066"/>
                <a:gd name="T11" fmla="*/ 2541 w 2541"/>
                <a:gd name="T12" fmla="*/ 1066 h 10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41" h="1066">
                  <a:moveTo>
                    <a:pt x="0" y="1066"/>
                  </a:moveTo>
                  <a:cubicBezTo>
                    <a:pt x="671" y="1043"/>
                    <a:pt x="897" y="2"/>
                    <a:pt x="1294" y="1"/>
                  </a:cubicBezTo>
                  <a:cubicBezTo>
                    <a:pt x="1691" y="0"/>
                    <a:pt x="2075" y="1035"/>
                    <a:pt x="2541" y="105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140306" name="AutoShape 15"/>
            <p:cNvSpPr>
              <a:spLocks noChangeArrowheads="1"/>
            </p:cNvSpPr>
            <p:nvPr/>
          </p:nvSpPr>
          <p:spPr bwMode="auto">
            <a:xfrm>
              <a:off x="2594" y="3527"/>
              <a:ext cx="363" cy="639"/>
            </a:xfrm>
            <a:prstGeom prst="upArrow">
              <a:avLst>
                <a:gd name="adj1" fmla="val 50000"/>
                <a:gd name="adj2" fmla="val 44008"/>
              </a:avLst>
            </a:prstGeom>
            <a:solidFill>
              <a:schemeClr val="accent1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0" dirty="0"/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2392363" y="3005138"/>
            <a:ext cx="4033837" cy="3608387"/>
            <a:chOff x="1507" y="1893"/>
            <a:chExt cx="2541" cy="2273"/>
          </a:xfrm>
        </p:grpSpPr>
        <p:sp>
          <p:nvSpPr>
            <p:cNvPr id="140303" name="Freeform 17"/>
            <p:cNvSpPr>
              <a:spLocks/>
            </p:cNvSpPr>
            <p:nvPr/>
          </p:nvSpPr>
          <p:spPr bwMode="auto">
            <a:xfrm>
              <a:off x="1507" y="1893"/>
              <a:ext cx="2541" cy="277"/>
            </a:xfrm>
            <a:custGeom>
              <a:avLst/>
              <a:gdLst>
                <a:gd name="T0" fmla="*/ 0 w 2541"/>
                <a:gd name="T1" fmla="*/ 277 h 1066"/>
                <a:gd name="T2" fmla="*/ 1294 w 2541"/>
                <a:gd name="T3" fmla="*/ 0 h 1066"/>
                <a:gd name="T4" fmla="*/ 2541 w 2541"/>
                <a:gd name="T5" fmla="*/ 273 h 1066"/>
                <a:gd name="T6" fmla="*/ 0 60000 65536"/>
                <a:gd name="T7" fmla="*/ 0 60000 65536"/>
                <a:gd name="T8" fmla="*/ 0 60000 65536"/>
                <a:gd name="T9" fmla="*/ 0 w 2541"/>
                <a:gd name="T10" fmla="*/ 0 h 1066"/>
                <a:gd name="T11" fmla="*/ 2541 w 2541"/>
                <a:gd name="T12" fmla="*/ 1066 h 10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41" h="1066">
                  <a:moveTo>
                    <a:pt x="0" y="1066"/>
                  </a:moveTo>
                  <a:cubicBezTo>
                    <a:pt x="671" y="1043"/>
                    <a:pt x="897" y="2"/>
                    <a:pt x="1294" y="1"/>
                  </a:cubicBezTo>
                  <a:cubicBezTo>
                    <a:pt x="1691" y="0"/>
                    <a:pt x="2075" y="1035"/>
                    <a:pt x="2541" y="105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140304" name="AutoShape 18"/>
            <p:cNvSpPr>
              <a:spLocks noChangeArrowheads="1"/>
            </p:cNvSpPr>
            <p:nvPr/>
          </p:nvSpPr>
          <p:spPr bwMode="auto">
            <a:xfrm>
              <a:off x="3202" y="3527"/>
              <a:ext cx="363" cy="639"/>
            </a:xfrm>
            <a:prstGeom prst="upArrow">
              <a:avLst>
                <a:gd name="adj1" fmla="val 50000"/>
                <a:gd name="adj2" fmla="val 44008"/>
              </a:avLst>
            </a:prstGeom>
            <a:solidFill>
              <a:schemeClr val="accent1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0" dirty="0"/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2392363" y="3255963"/>
            <a:ext cx="4143375" cy="3357562"/>
            <a:chOff x="1507" y="2051"/>
            <a:chExt cx="2610" cy="2115"/>
          </a:xfrm>
        </p:grpSpPr>
        <p:sp>
          <p:nvSpPr>
            <p:cNvPr id="140301" name="Freeform 20"/>
            <p:cNvSpPr>
              <a:spLocks/>
            </p:cNvSpPr>
            <p:nvPr/>
          </p:nvSpPr>
          <p:spPr bwMode="auto">
            <a:xfrm>
              <a:off x="1507" y="2051"/>
              <a:ext cx="2541" cy="119"/>
            </a:xfrm>
            <a:custGeom>
              <a:avLst/>
              <a:gdLst>
                <a:gd name="T0" fmla="*/ 0 w 2541"/>
                <a:gd name="T1" fmla="*/ 119 h 1066"/>
                <a:gd name="T2" fmla="*/ 1294 w 2541"/>
                <a:gd name="T3" fmla="*/ 0 h 1066"/>
                <a:gd name="T4" fmla="*/ 2541 w 2541"/>
                <a:gd name="T5" fmla="*/ 117 h 1066"/>
                <a:gd name="T6" fmla="*/ 0 60000 65536"/>
                <a:gd name="T7" fmla="*/ 0 60000 65536"/>
                <a:gd name="T8" fmla="*/ 0 60000 65536"/>
                <a:gd name="T9" fmla="*/ 0 w 2541"/>
                <a:gd name="T10" fmla="*/ 0 h 1066"/>
                <a:gd name="T11" fmla="*/ 2541 w 2541"/>
                <a:gd name="T12" fmla="*/ 1066 h 10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41" h="1066">
                  <a:moveTo>
                    <a:pt x="0" y="1066"/>
                  </a:moveTo>
                  <a:cubicBezTo>
                    <a:pt x="671" y="1043"/>
                    <a:pt x="897" y="2"/>
                    <a:pt x="1294" y="1"/>
                  </a:cubicBezTo>
                  <a:cubicBezTo>
                    <a:pt x="1691" y="0"/>
                    <a:pt x="2075" y="1035"/>
                    <a:pt x="2541" y="105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140302" name="AutoShape 21"/>
            <p:cNvSpPr>
              <a:spLocks noChangeArrowheads="1"/>
            </p:cNvSpPr>
            <p:nvPr/>
          </p:nvSpPr>
          <p:spPr bwMode="auto">
            <a:xfrm>
              <a:off x="3754" y="3527"/>
              <a:ext cx="363" cy="639"/>
            </a:xfrm>
            <a:prstGeom prst="upArrow">
              <a:avLst>
                <a:gd name="adj1" fmla="val 50000"/>
                <a:gd name="adj2" fmla="val 44008"/>
              </a:avLst>
            </a:prstGeom>
            <a:solidFill>
              <a:schemeClr val="accent1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9A2EE43-9E6A-7ACD-499E-0E6F418AD2DA}"/>
              </a:ext>
            </a:extLst>
          </p:cNvPr>
          <p:cNvSpPr txBox="1"/>
          <p:nvPr/>
        </p:nvSpPr>
        <p:spPr>
          <a:xfrm>
            <a:off x="4935538" y="4322763"/>
            <a:ext cx="1637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Absorber (vessel)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38" name="Picture 2" descr="geom_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0979" name="Picture 3" descr="geom_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0980" name="Picture 4" descr="geom_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0981" name="Picture 5" descr="geom_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0982" name="Picture 6" descr="geom_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0983" name="Picture 7" descr="geom_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0984" name="Picture 8" descr="geom_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0985" name="Picture 9" descr="geom_a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2346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Forward Problem</a:t>
            </a:r>
          </a:p>
        </p:txBody>
      </p:sp>
    </p:spTree>
    <p:extLst>
      <p:ext uri="{BB962C8B-B14F-4D97-AF65-F5344CB8AC3E}">
        <p14:creationId xmlns:p14="http://schemas.microsoft.com/office/powerpoint/2010/main" val="14280643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2" descr="geom_a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03" name="Picture 3" descr="geom_a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04" name="Picture 4" descr="exc_src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05" name="Picture 5" descr="emissio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06" name="Picture 6" descr="exc_src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07" name="Picture 7" descr="emissio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08" name="Picture 8" descr="exc_src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09" name="Picture 9" descr="emissio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10" name="Oval 10"/>
          <p:cNvSpPr>
            <a:spLocks noChangeArrowheads="1"/>
          </p:cNvSpPr>
          <p:nvPr/>
        </p:nvSpPr>
        <p:spPr bwMode="auto">
          <a:xfrm>
            <a:off x="5029200" y="3810000"/>
            <a:ext cx="152400" cy="152400"/>
          </a:xfrm>
          <a:prstGeom prst="ellipse">
            <a:avLst/>
          </a:prstGeom>
          <a:noFill/>
          <a:ln w="25400" algn="ctr">
            <a:solidFill>
              <a:srgbClr val="FF010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143371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Forward Problem</a:t>
            </a:r>
          </a:p>
        </p:txBody>
      </p:sp>
    </p:spTree>
    <p:extLst>
      <p:ext uri="{BB962C8B-B14F-4D97-AF65-F5344CB8AC3E}">
        <p14:creationId xmlns:p14="http://schemas.microsoft.com/office/powerpoint/2010/main" val="34680401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1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1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1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1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1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1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0" name="Picture 2" descr="emiss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4051" name="Picture 3" descr="geom_mes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4052" name="Picture 4" descr="geom_weight_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4053" name="Picture 5" descr="geom_weight_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4054" name="Picture 6" descr="geom_weight_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14400" y="1219200"/>
            <a:ext cx="7315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5415" name="Oval 7"/>
          <p:cNvSpPr>
            <a:spLocks noChangeArrowheads="1"/>
          </p:cNvSpPr>
          <p:nvPr/>
        </p:nvSpPr>
        <p:spPr bwMode="auto">
          <a:xfrm>
            <a:off x="5029200" y="3810000"/>
            <a:ext cx="152400" cy="152400"/>
          </a:xfrm>
          <a:prstGeom prst="ellipse">
            <a:avLst/>
          </a:prstGeom>
          <a:noFill/>
          <a:ln w="25400" algn="ctr">
            <a:solidFill>
              <a:srgbClr val="FF010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noProof="0" dirty="0">
              <a:solidFill>
                <a:schemeClr val="accent1">
                  <a:lumMod val="20000"/>
                  <a:lumOff val="80000"/>
                </a:schemeClr>
              </a:solidFill>
              <a:latin typeface="+mn-lt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943600" y="4191001"/>
            <a:ext cx="1665288" cy="338138"/>
            <a:chOff x="3048" y="3600"/>
            <a:chExt cx="1049" cy="213"/>
          </a:xfrm>
        </p:grpSpPr>
        <p:sp>
          <p:nvSpPr>
            <p:cNvPr id="514057" name="AutoShape 9"/>
            <p:cNvSpPr>
              <a:spLocks noChangeArrowheads="1"/>
            </p:cNvSpPr>
            <p:nvPr/>
          </p:nvSpPr>
          <p:spPr bwMode="auto">
            <a:xfrm rot="5400000">
              <a:off x="3264" y="3456"/>
              <a:ext cx="96" cy="528"/>
            </a:xfrm>
            <a:prstGeom prst="downArrow">
              <a:avLst>
                <a:gd name="adj1" fmla="val 50000"/>
                <a:gd name="adj2" fmla="val 13750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540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600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45426" name="Text Box 10"/>
            <p:cNvSpPr txBox="1">
              <a:spLocks noChangeArrowheads="1"/>
            </p:cNvSpPr>
            <p:nvPr/>
          </p:nvSpPr>
          <p:spPr bwMode="auto">
            <a:xfrm>
              <a:off x="3688" y="3600"/>
              <a:ext cx="409" cy="213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noProof="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Mesh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5943617" y="4178301"/>
            <a:ext cx="2338396" cy="338138"/>
            <a:chOff x="3048" y="3592"/>
            <a:chExt cx="1473" cy="213"/>
          </a:xfrm>
        </p:grpSpPr>
        <p:sp>
          <p:nvSpPr>
            <p:cNvPr id="514060" name="AutoShape 12"/>
            <p:cNvSpPr>
              <a:spLocks noChangeArrowheads="1"/>
            </p:cNvSpPr>
            <p:nvPr/>
          </p:nvSpPr>
          <p:spPr bwMode="auto">
            <a:xfrm rot="5400000">
              <a:off x="3264" y="3456"/>
              <a:ext cx="96" cy="528"/>
            </a:xfrm>
            <a:prstGeom prst="downArrow">
              <a:avLst>
                <a:gd name="adj1" fmla="val 50000"/>
                <a:gd name="adj2" fmla="val 13750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540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600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45424" name="Text Box 13"/>
            <p:cNvSpPr txBox="1">
              <a:spLocks noChangeArrowheads="1"/>
            </p:cNvSpPr>
            <p:nvPr/>
          </p:nvSpPr>
          <p:spPr bwMode="auto">
            <a:xfrm>
              <a:off x="3564" y="3592"/>
              <a:ext cx="957" cy="213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noProof="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Weight Matrix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5029202" y="2133600"/>
            <a:ext cx="1119188" cy="1143000"/>
            <a:chOff x="3168" y="1344"/>
            <a:chExt cx="705" cy="720"/>
          </a:xfrm>
        </p:grpSpPr>
        <p:sp>
          <p:nvSpPr>
            <p:cNvPr id="514063" name="AutoShape 15"/>
            <p:cNvSpPr>
              <a:spLocks noChangeArrowheads="1"/>
            </p:cNvSpPr>
            <p:nvPr/>
          </p:nvSpPr>
          <p:spPr bwMode="auto">
            <a:xfrm>
              <a:off x="3168" y="1536"/>
              <a:ext cx="96" cy="528"/>
            </a:xfrm>
            <a:prstGeom prst="downArrow">
              <a:avLst>
                <a:gd name="adj1" fmla="val 50000"/>
                <a:gd name="adj2" fmla="val 13750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540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600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45422" name="Text Box 16"/>
            <p:cNvSpPr txBox="1">
              <a:spLocks noChangeArrowheads="1"/>
            </p:cNvSpPr>
            <p:nvPr/>
          </p:nvSpPr>
          <p:spPr bwMode="auto">
            <a:xfrm>
              <a:off x="3295" y="1344"/>
              <a:ext cx="578" cy="213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noProof="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Detector</a:t>
              </a:r>
            </a:p>
          </p:txBody>
        </p:sp>
      </p:grpSp>
      <p:sp>
        <p:nvSpPr>
          <p:cNvPr id="514065" name="Text Box 17"/>
          <p:cNvSpPr txBox="1">
            <a:spLocks noChangeArrowheads="1"/>
          </p:cNvSpPr>
          <p:nvPr/>
        </p:nvSpPr>
        <p:spPr bwMode="auto">
          <a:xfrm>
            <a:off x="1725718" y="5638800"/>
            <a:ext cx="6137065" cy="83099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The Weight Matrix Represents the contribution </a:t>
            </a:r>
          </a:p>
          <a:p>
            <a:pPr algn="ctr"/>
            <a:r>
              <a:rPr lang="en-US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of a certain voxel to the measured signal</a:t>
            </a:r>
          </a:p>
        </p:txBody>
      </p:sp>
      <p:sp>
        <p:nvSpPr>
          <p:cNvPr id="145420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Inverse Problem</a:t>
            </a:r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6019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1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51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0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660BB0-214E-E4DE-3637-27761A691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336" y="1624479"/>
            <a:ext cx="4429298" cy="1752600"/>
          </a:xfrm>
          <a:prstGeom prst="rect">
            <a:avLst/>
          </a:prstGeom>
        </p:spPr>
      </p:pic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1883261" y="2322979"/>
            <a:ext cx="184150" cy="36671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endParaRPr lang="en-US" i="1" noProof="0" dirty="0">
              <a:latin typeface="Arial" pitchFamily="34" charset="0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Forward Problem</a:t>
            </a: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 flipV="1">
            <a:off x="2645261" y="3161179"/>
            <a:ext cx="0" cy="17526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3927961" y="4515593"/>
            <a:ext cx="1784350" cy="36671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noProof="0" dirty="0">
                <a:latin typeface="Verdana" pitchFamily="34" charset="0"/>
              </a:rPr>
              <a:t>Weight Matrix</a:t>
            </a:r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 flipH="1" flipV="1">
            <a:off x="3788261" y="3084979"/>
            <a:ext cx="457200" cy="1295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5807560" y="4329618"/>
            <a:ext cx="2393605" cy="36933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noProof="0" dirty="0">
                <a:latin typeface="Verdana" pitchFamily="34" charset="0"/>
              </a:rPr>
              <a:t>3D Absorption Map</a:t>
            </a:r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 flipH="1" flipV="1">
            <a:off x="5388460" y="3088341"/>
            <a:ext cx="838200" cy="9906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1445221" y="4915146"/>
            <a:ext cx="2069093" cy="64633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noProof="0" dirty="0">
                <a:latin typeface="Verdana" pitchFamily="34" charset="0"/>
              </a:rPr>
              <a:t>Wavelength-dep</a:t>
            </a:r>
          </a:p>
          <a:p>
            <a:pPr algn="ctr"/>
            <a:r>
              <a:rPr lang="en-US" noProof="0" dirty="0">
                <a:latin typeface="Verdana" pitchFamily="34" charset="0"/>
              </a:rPr>
              <a:t>Meas</a:t>
            </a:r>
            <a:r>
              <a:rPr lang="en-US" dirty="0" err="1">
                <a:latin typeface="Verdana" pitchFamily="34" charset="0"/>
              </a:rPr>
              <a:t>urements</a:t>
            </a:r>
            <a:endParaRPr lang="en-US" noProof="0" dirty="0">
              <a:latin typeface="Verdana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EB3CD9-0DAD-D522-01CA-2E8CFD8CEEEC}"/>
              </a:ext>
            </a:extLst>
          </p:cNvPr>
          <p:cNvSpPr/>
          <p:nvPr/>
        </p:nvSpPr>
        <p:spPr>
          <a:xfrm>
            <a:off x="2067411" y="2018179"/>
            <a:ext cx="3740149" cy="1143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340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DC5A0-1669-10EB-AC9D-25ADAD500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F234B5-5840-4A97-7856-343BC1971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169" y="2003989"/>
            <a:ext cx="3949391" cy="1295400"/>
          </a:xfrm>
          <a:prstGeom prst="rect">
            <a:avLst/>
          </a:prstGeom>
        </p:spPr>
      </p:pic>
      <p:sp>
        <p:nvSpPr>
          <p:cNvPr id="8195" name="Text Box 2">
            <a:extLst>
              <a:ext uri="{FF2B5EF4-FFF2-40B4-BE49-F238E27FC236}">
                <a16:creationId xmlns:a16="http://schemas.microsoft.com/office/drawing/2014/main" id="{27097E56-BB44-6F9D-8191-B5AEAD1D1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3261" y="2322979"/>
            <a:ext cx="184150" cy="36671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endParaRPr lang="en-US" i="1" noProof="0" dirty="0">
              <a:latin typeface="Arial" pitchFamily="34" charset="0"/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76D4F30E-A357-0AC1-B1DE-4D82FA30A8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Inverse Problem</a:t>
            </a:r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4D06854F-6DD0-5575-1F73-10B4B48CDD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3746" y="2947659"/>
            <a:ext cx="0" cy="17526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198" name="Text Box 6">
            <a:extLst>
              <a:ext uri="{FF2B5EF4-FFF2-40B4-BE49-F238E27FC236}">
                <a16:creationId xmlns:a16="http://schemas.microsoft.com/office/drawing/2014/main" id="{BE3623E1-0B21-E977-28BB-CDFBE8DE1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3080" y="4515593"/>
            <a:ext cx="2854115" cy="36933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noProof="0" dirty="0">
                <a:latin typeface="Verdana" pitchFamily="34" charset="0"/>
              </a:rPr>
              <a:t>Inverted Weight Matrix</a:t>
            </a:r>
          </a:p>
        </p:txBody>
      </p:sp>
      <p:sp>
        <p:nvSpPr>
          <p:cNvPr id="8199" name="Line 7">
            <a:extLst>
              <a:ext uri="{FF2B5EF4-FFF2-40B4-BE49-F238E27FC236}">
                <a16:creationId xmlns:a16="http://schemas.microsoft.com/office/drawing/2014/main" id="{7B7746A7-09FF-67F8-5FDE-8DDFDF69628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45459" y="2936838"/>
            <a:ext cx="1" cy="1443541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00" name="Text Box 8">
            <a:extLst>
              <a:ext uri="{FF2B5EF4-FFF2-40B4-BE49-F238E27FC236}">
                <a16:creationId xmlns:a16="http://schemas.microsoft.com/office/drawing/2014/main" id="{2D6FB009-5E9E-ED56-AF1E-D07B0D5E6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175" y="4767579"/>
            <a:ext cx="2393605" cy="36933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noProof="0" dirty="0">
                <a:latin typeface="Verdana" pitchFamily="34" charset="0"/>
              </a:rPr>
              <a:t>3D Absorption Map</a:t>
            </a:r>
          </a:p>
        </p:txBody>
      </p:sp>
      <p:sp>
        <p:nvSpPr>
          <p:cNvPr id="8203" name="Line 11">
            <a:extLst>
              <a:ext uri="{FF2B5EF4-FFF2-40B4-BE49-F238E27FC236}">
                <a16:creationId xmlns:a16="http://schemas.microsoft.com/office/drawing/2014/main" id="{14CFEE46-BE75-8661-858A-3CBE70E8714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88460" y="3088341"/>
            <a:ext cx="838200" cy="9906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04" name="Text Box 12">
            <a:extLst>
              <a:ext uri="{FF2B5EF4-FFF2-40B4-BE49-F238E27FC236}">
                <a16:creationId xmlns:a16="http://schemas.microsoft.com/office/drawing/2014/main" id="{DE3306B3-02EB-E3DC-0D07-D6BF66DDC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6660" y="4037479"/>
            <a:ext cx="2069093" cy="64633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noProof="0" dirty="0">
                <a:latin typeface="Verdana" pitchFamily="34" charset="0"/>
              </a:rPr>
              <a:t>Wavelength-dep</a:t>
            </a:r>
          </a:p>
          <a:p>
            <a:pPr algn="ctr"/>
            <a:r>
              <a:rPr lang="en-US" noProof="0" dirty="0">
                <a:latin typeface="Verdana" pitchFamily="34" charset="0"/>
              </a:rPr>
              <a:t>Meas</a:t>
            </a:r>
            <a:r>
              <a:rPr lang="en-US" dirty="0" err="1">
                <a:latin typeface="Verdana" pitchFamily="34" charset="0"/>
              </a:rPr>
              <a:t>urements</a:t>
            </a:r>
            <a:endParaRPr lang="en-US" noProof="0" dirty="0">
              <a:latin typeface="Verdana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666721-8108-94FD-CDFC-ED2446CBBC75}"/>
              </a:ext>
            </a:extLst>
          </p:cNvPr>
          <p:cNvSpPr/>
          <p:nvPr/>
        </p:nvSpPr>
        <p:spPr>
          <a:xfrm>
            <a:off x="2067411" y="2018179"/>
            <a:ext cx="3740149" cy="1143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BA6BFF7D-59AB-A6B7-AE6A-6F8AA10E6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547363"/>
            <a:ext cx="3429000" cy="4572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noProof="0" dirty="0">
                <a:latin typeface="Verdana" pitchFamily="34" charset="0"/>
              </a:rPr>
              <a:t>Ill-Posed Problem 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B553945C-B259-8CF0-6287-8340922F9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471163"/>
            <a:ext cx="3429000" cy="82232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noProof="0" dirty="0">
                <a:latin typeface="Verdana" pitchFamily="34" charset="0"/>
              </a:rPr>
              <a:t>Iterative Methods, SVD</a:t>
            </a:r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79E24911-0B48-F67D-6528-63820BE99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623563"/>
            <a:ext cx="1371600" cy="381000"/>
          </a:xfrm>
          <a:prstGeom prst="rightArrow">
            <a:avLst>
              <a:gd name="adj1" fmla="val 50000"/>
              <a:gd name="adj2" fmla="val 90000"/>
            </a:avLst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8402021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5159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noProof="0" dirty="0"/>
              <a:t>Relationship with Measurements</a:t>
            </a: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9375" y="1963738"/>
            <a:ext cx="4529138" cy="349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descr="S2 P01: Wearable High Density Diffuse Optical Tomography for Decoding Brain Activity (Joseph Culver)">
            <a:hlinkClick r:id="" action="ppaction://media"/>
            <a:extLst>
              <a:ext uri="{FF2B5EF4-FFF2-40B4-BE49-F238E27FC236}">
                <a16:creationId xmlns:a16="http://schemas.microsoft.com/office/drawing/2014/main" id="{9CF0A9ED-EB65-859E-10C0-12C911A1E28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1065530"/>
            <a:ext cx="9144000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8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234</Words>
  <Application>Microsoft Macintosh PowerPoint</Application>
  <DocSecurity>0</DocSecurity>
  <PresentationFormat>On-screen Show (4:3)</PresentationFormat>
  <Paragraphs>64</Paragraphs>
  <Slides>23</Slides>
  <Notes>3</Notes>
  <HiddenSlides>0</HiddenSlides>
  <MMClips>7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ＭＳ Ｐゴシック</vt:lpstr>
      <vt:lpstr>Arial</vt:lpstr>
      <vt:lpstr>Calibri</vt:lpstr>
      <vt:lpstr>Calibri Light</vt:lpstr>
      <vt:lpstr>Verdana</vt:lpstr>
      <vt:lpstr>Tema de Office</vt:lpstr>
      <vt:lpstr>PowerPoint Presentation</vt:lpstr>
      <vt:lpstr>Neuroimaging</vt:lpstr>
      <vt:lpstr>PowerPoint Presentation</vt:lpstr>
      <vt:lpstr>PowerPoint Presentation</vt:lpstr>
      <vt:lpstr>PowerPoint Presentation</vt:lpstr>
      <vt:lpstr>PowerPoint Presentation</vt:lpstr>
      <vt:lpstr>Optical Methods</vt:lpstr>
      <vt:lpstr>Blood Absorption</vt:lpstr>
      <vt:lpstr>PowerPoint Presentation</vt:lpstr>
      <vt:lpstr>PowerPoint Presentation</vt:lpstr>
      <vt:lpstr>Functional Diffuse Optical Tomography</vt:lpstr>
      <vt:lpstr>Non-Contact FMT</vt:lpstr>
      <vt:lpstr>Wavelength Selection</vt:lpstr>
      <vt:lpstr>DOT Principles</vt:lpstr>
      <vt:lpstr>DOT vs Single Image</vt:lpstr>
      <vt:lpstr>Principles of Tomography</vt:lpstr>
      <vt:lpstr>Forward Problem</vt:lpstr>
      <vt:lpstr>Forward Problem</vt:lpstr>
      <vt:lpstr>Inverse Problem</vt:lpstr>
      <vt:lpstr>Forward Problem</vt:lpstr>
      <vt:lpstr>Inverse Problem</vt:lpstr>
      <vt:lpstr>Relationship with Measurements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Jorge Ripoll</cp:lastModifiedBy>
  <cp:revision>15</cp:revision>
  <dcterms:created xsi:type="dcterms:W3CDTF">2026-09-22T11:17:25Z</dcterms:created>
  <dcterms:modified xsi:type="dcterms:W3CDTF">2026-10-06T08:47:49Z</dcterms:modified>
</cp:coreProperties>
</file>